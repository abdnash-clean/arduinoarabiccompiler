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98255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590288"/>
            <a:ext cx="9144000" cy="55321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378634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مترجم الأردوينو العربي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457200" y="2110154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ArArduino Compiler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2286000" y="2658794"/>
            <a:ext cx="4572000" cy="475488"/>
          </a:xfrm>
          <a:prstGeom prst="roundRect">
            <a:avLst>
              <a:gd name="adj" fmla="val 28846"/>
            </a:avLst>
          </a:prstGeom>
          <a:solidFill>
            <a:srgbClr val="EBF5FB"/>
          </a:solidFill>
          <a:ln w="1905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286000" y="2658794"/>
            <a:ext cx="4572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200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لغة برمجة عربية موجهة للأنظمة المدمجة ومعالجات AVR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0" y="3298874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المقدمون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" y="358233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عبد الهادي نشواتي  ·  محمد ثائر عرابي  ·  سعيد بقدونس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54880" y="386580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المشرفون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" y="409440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د. عبد العظيم عموري  ·  م. عماد قرحيلي  ·  م. علي سليمان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دورة </a:t>
            </a:r>
            <a:r>
              <a:rPr lang="en-US" sz="22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حياة</a:t>
            </a: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2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المترجم</a:t>
            </a:r>
            <a:r>
              <a:rPr lang="ar-SY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</a:t>
            </a: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Compiler Pipeline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56032" y="1371600"/>
            <a:ext cx="841248" cy="749808"/>
          </a:xfrm>
          <a:prstGeom prst="roundRect">
            <a:avLst>
              <a:gd name="adj" fmla="val 9756"/>
            </a:avLst>
          </a:prstGeom>
          <a:solidFill>
            <a:srgbClr val="1ABC9C"/>
          </a:solidFill>
          <a:ln w="6350">
            <a:solidFill>
              <a:srgbClr val="FFFFFF"/>
            </a:solidFill>
            <a:prstDash val="solid"/>
          </a:ln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56032" y="1371600"/>
            <a:ext cx="84124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الكود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المصدر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106424" y="1746504"/>
            <a:ext cx="109728" cy="0"/>
          </a:xfrm>
          <a:prstGeom prst="line">
            <a:avLst/>
          </a:prstGeom>
          <a:noFill/>
          <a:ln w="19050">
            <a:solidFill>
              <a:srgbClr val="2E86C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07008" y="1371600"/>
            <a:ext cx="841248" cy="749808"/>
          </a:xfrm>
          <a:prstGeom prst="roundRect">
            <a:avLst>
              <a:gd name="adj" fmla="val 9756"/>
            </a:avLst>
          </a:prstGeom>
          <a:solidFill>
            <a:srgbClr val="2E86C1"/>
          </a:solidFill>
          <a:ln w="6350">
            <a:solidFill>
              <a:srgbClr val="FFFFFF"/>
            </a:solidFill>
            <a:prstDash val="solid"/>
          </a:ln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207008" y="1371600"/>
            <a:ext cx="84124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تسوية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النص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057400" y="1746504"/>
            <a:ext cx="109728" cy="0"/>
          </a:xfrm>
          <a:prstGeom prst="line">
            <a:avLst/>
          </a:prstGeom>
          <a:noFill/>
          <a:ln w="19050">
            <a:solidFill>
              <a:srgbClr val="2E86C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53551" y="2130551"/>
            <a:ext cx="9326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i="1" dirty="0">
                <a:solidFill>
                  <a:srgbClr val="5D6D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normalize.py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2157984" y="1371600"/>
            <a:ext cx="841248" cy="749808"/>
          </a:xfrm>
          <a:prstGeom prst="roundRect">
            <a:avLst>
              <a:gd name="adj" fmla="val 9756"/>
            </a:avLst>
          </a:prstGeom>
          <a:solidFill>
            <a:srgbClr val="2E86C1"/>
          </a:solidFill>
          <a:ln w="6350">
            <a:solidFill>
              <a:srgbClr val="FFFFFF"/>
            </a:solidFill>
            <a:prstDash val="solid"/>
          </a:ln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157984" y="1371600"/>
            <a:ext cx="84124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Lexer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الماسح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008376" y="1746504"/>
            <a:ext cx="109728" cy="0"/>
          </a:xfrm>
          <a:prstGeom prst="line">
            <a:avLst/>
          </a:prstGeom>
          <a:noFill/>
          <a:ln w="19050">
            <a:solidFill>
              <a:srgbClr val="2E86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86239" y="2145321"/>
            <a:ext cx="9326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i="1" dirty="0">
                <a:solidFill>
                  <a:srgbClr val="5D6D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lexer.py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3108960" y="1371600"/>
            <a:ext cx="841248" cy="749808"/>
          </a:xfrm>
          <a:prstGeom prst="roundRect">
            <a:avLst>
              <a:gd name="adj" fmla="val 9756"/>
            </a:avLst>
          </a:prstGeom>
          <a:solidFill>
            <a:srgbClr val="2E86C1"/>
          </a:solidFill>
          <a:ln w="6350">
            <a:solidFill>
              <a:srgbClr val="FFFFFF"/>
            </a:solidFill>
            <a:prstDash val="solid"/>
          </a:ln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108960" y="1371600"/>
            <a:ext cx="84124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Parser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المحلل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959352" y="1746504"/>
            <a:ext cx="109728" cy="0"/>
          </a:xfrm>
          <a:prstGeom prst="line">
            <a:avLst/>
          </a:prstGeom>
          <a:noFill/>
          <a:ln w="19050">
            <a:solidFill>
              <a:srgbClr val="2E86C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63240" y="2145321"/>
            <a:ext cx="9326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i="1" dirty="0">
                <a:solidFill>
                  <a:srgbClr val="5D6D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parser.py</a:t>
            </a:r>
            <a:endParaRPr lang="en-US" sz="650" dirty="0"/>
          </a:p>
        </p:txBody>
      </p:sp>
      <p:sp>
        <p:nvSpPr>
          <p:cNvPr id="19" name="Shape 17"/>
          <p:cNvSpPr/>
          <p:nvPr/>
        </p:nvSpPr>
        <p:spPr>
          <a:xfrm>
            <a:off x="4059936" y="1371600"/>
            <a:ext cx="841248" cy="749808"/>
          </a:xfrm>
          <a:prstGeom prst="roundRect">
            <a:avLst>
              <a:gd name="adj" fmla="val 9756"/>
            </a:avLst>
          </a:prstGeom>
          <a:solidFill>
            <a:srgbClr val="2E86C1"/>
          </a:solidFill>
          <a:ln w="6350">
            <a:solidFill>
              <a:srgbClr val="FFFFFF"/>
            </a:solidFill>
            <a:prstDash val="solid"/>
          </a:ln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059936" y="1371600"/>
            <a:ext cx="84124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AST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Builder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910328" y="1746504"/>
            <a:ext cx="109728" cy="0"/>
          </a:xfrm>
          <a:prstGeom prst="line">
            <a:avLst/>
          </a:prstGeom>
          <a:noFill/>
          <a:ln w="19050">
            <a:solidFill>
              <a:srgbClr val="2E86C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91708" y="2145321"/>
            <a:ext cx="9326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i="1" dirty="0">
                <a:solidFill>
                  <a:srgbClr val="5D6D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ast_builder.py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5010912" y="1371600"/>
            <a:ext cx="841248" cy="749808"/>
          </a:xfrm>
          <a:prstGeom prst="roundRect">
            <a:avLst>
              <a:gd name="adj" fmla="val 9756"/>
            </a:avLst>
          </a:prstGeom>
          <a:solidFill>
            <a:srgbClr val="2E86C1"/>
          </a:solidFill>
          <a:ln w="6350">
            <a:solidFill>
              <a:srgbClr val="FFFFFF"/>
            </a:solidFill>
            <a:prstDash val="solid"/>
          </a:ln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010912" y="1371600"/>
            <a:ext cx="84124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الدلالي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861304" y="1746504"/>
            <a:ext cx="109728" cy="0"/>
          </a:xfrm>
          <a:prstGeom prst="line">
            <a:avLst/>
          </a:prstGeom>
          <a:noFill/>
          <a:ln w="19050">
            <a:solidFill>
              <a:srgbClr val="2E86C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28616" y="2145321"/>
            <a:ext cx="9326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i="1" dirty="0">
                <a:solidFill>
                  <a:srgbClr val="5D6D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semantic.py</a:t>
            </a:r>
            <a:endParaRPr lang="en-US" sz="650" dirty="0"/>
          </a:p>
        </p:txBody>
      </p:sp>
      <p:sp>
        <p:nvSpPr>
          <p:cNvPr id="27" name="Shape 25"/>
          <p:cNvSpPr/>
          <p:nvPr/>
        </p:nvSpPr>
        <p:spPr>
          <a:xfrm>
            <a:off x="5961888" y="1371600"/>
            <a:ext cx="841248" cy="749808"/>
          </a:xfrm>
          <a:prstGeom prst="roundRect">
            <a:avLst>
              <a:gd name="adj" fmla="val 9756"/>
            </a:avLst>
          </a:prstGeom>
          <a:solidFill>
            <a:srgbClr val="1A5276"/>
          </a:solidFill>
          <a:ln w="6350">
            <a:solidFill>
              <a:srgbClr val="FFFFFF"/>
            </a:solidFill>
            <a:prstDash val="solid"/>
          </a:ln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961888" y="1371600"/>
            <a:ext cx="84124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LLVM IR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مولد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812280" y="1746504"/>
            <a:ext cx="109728" cy="0"/>
          </a:xfrm>
          <a:prstGeom prst="line">
            <a:avLst/>
          </a:prstGeom>
          <a:noFill/>
          <a:ln w="19050">
            <a:solidFill>
              <a:srgbClr val="2E86C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16168" y="2146023"/>
            <a:ext cx="9326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i="1" dirty="0">
                <a:solidFill>
                  <a:srgbClr val="5D6D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ir_generator.py</a:t>
            </a:r>
            <a:endParaRPr lang="en-US" sz="650" dirty="0"/>
          </a:p>
        </p:txBody>
      </p:sp>
      <p:sp>
        <p:nvSpPr>
          <p:cNvPr id="31" name="Shape 29"/>
          <p:cNvSpPr/>
          <p:nvPr/>
        </p:nvSpPr>
        <p:spPr>
          <a:xfrm>
            <a:off x="6912864" y="1371600"/>
            <a:ext cx="841248" cy="749808"/>
          </a:xfrm>
          <a:prstGeom prst="roundRect">
            <a:avLst>
              <a:gd name="adj" fmla="val 9756"/>
            </a:avLst>
          </a:prstGeom>
          <a:solidFill>
            <a:srgbClr val="1A5276"/>
          </a:solidFill>
          <a:ln w="6350">
            <a:solidFill>
              <a:srgbClr val="FFFFFF"/>
            </a:solidFill>
            <a:prstDash val="solid"/>
          </a:ln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912864" y="1371600"/>
            <a:ext cx="84124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المحسّن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والمجمّع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7763256" y="1746504"/>
            <a:ext cx="109728" cy="0"/>
          </a:xfrm>
          <a:prstGeom prst="line">
            <a:avLst/>
          </a:prstGeom>
          <a:noFill/>
          <a:ln w="19050">
            <a:solidFill>
              <a:srgbClr val="2E86C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67144" y="2145321"/>
            <a:ext cx="9326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i="1" dirty="0">
                <a:solidFill>
                  <a:srgbClr val="5D6D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optimizer.py</a:t>
            </a:r>
            <a:endParaRPr lang="en-US" sz="650" dirty="0"/>
          </a:p>
        </p:txBody>
      </p:sp>
      <p:sp>
        <p:nvSpPr>
          <p:cNvPr id="35" name="Shape 33"/>
          <p:cNvSpPr/>
          <p:nvPr/>
        </p:nvSpPr>
        <p:spPr>
          <a:xfrm>
            <a:off x="7863840" y="1371600"/>
            <a:ext cx="841248" cy="749808"/>
          </a:xfrm>
          <a:prstGeom prst="roundRect">
            <a:avLst>
              <a:gd name="adj" fmla="val 9756"/>
            </a:avLst>
          </a:prstGeom>
          <a:solidFill>
            <a:srgbClr val="1ABC9C"/>
          </a:solidFill>
          <a:ln w="6350">
            <a:solidFill>
              <a:srgbClr val="FFFFFF"/>
            </a:solidFill>
            <a:prstDash val="solid"/>
          </a:ln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7863840" y="1371600"/>
            <a:ext cx="84124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output.o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firmware.hex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65760" y="3474720"/>
            <a:ext cx="8412480" cy="1371600"/>
          </a:xfrm>
          <a:prstGeom prst="roundRect">
            <a:avLst>
              <a:gd name="adj" fmla="val 8000"/>
            </a:avLst>
          </a:prstGeom>
          <a:solidFill>
            <a:srgbClr val="EBF5FB"/>
          </a:solidFill>
          <a:ln w="12700">
            <a:solidFill>
              <a:srgbClr val="D5E8F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" y="3547872"/>
            <a:ext cx="7863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تمر الشفرة العربية المصدر بـ </a:t>
            </a:r>
            <a:r>
              <a:rPr lang="en-US" sz="12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مراحل متسلسلة</a:t>
            </a: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تبدأ بتسوية النص العربي ومعالجته، ثم التحليل المعجمي والنحوي وبناء الشجرة الدلالية،</a:t>
            </a:r>
            <a:endParaRPr lang="en-US" sz="1200" dirty="0"/>
          </a:p>
          <a:p>
            <a:pPr marL="0" indent="0" algn="r" rtl="1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وتنتهي بتوليد كود LLVM IR المحسّن لمعمارية AVR وإنتاج ملف </a:t>
            </a:r>
            <a:r>
              <a:rPr lang="en-US" sz="1200" b="1" dirty="0">
                <a:solidFill>
                  <a:srgbClr val="2E86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firmware.hex</a:t>
            </a: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الجاهز للرفع على لوحة الأردوينو.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الواجهة </a:t>
            </a:r>
            <a:r>
              <a:rPr lang="en-US" sz="22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الأمامية</a:t>
            </a: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</a:t>
            </a:r>
            <a:r>
              <a:rPr lang="ar-SY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2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</a:t>
            </a: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النص العربي </a:t>
            </a:r>
            <a:r>
              <a:rPr lang="en-US" sz="22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إلى</a:t>
            </a: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2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الشجرة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2606040" cy="2468880"/>
          </a:xfrm>
          <a:prstGeom prst="roundRect">
            <a:avLst>
              <a:gd name="adj" fmla="val 4444"/>
            </a:avLst>
          </a:prstGeom>
          <a:solidFill>
            <a:srgbClr val="F8FBFD"/>
          </a:solidFill>
          <a:ln w="12700">
            <a:solidFill>
              <a:srgbClr val="D5E8F3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777240"/>
            <a:ext cx="2606040" cy="502920"/>
          </a:xfrm>
          <a:prstGeom prst="roundRect">
            <a:avLst>
              <a:gd name="adj" fmla="val 21818"/>
            </a:avLst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51560"/>
            <a:ext cx="2606040" cy="22860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77724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تسوية النصوص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233172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r" rtl="1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إزالة التشكيل والتطويل</a:t>
            </a:r>
            <a:endParaRPr lang="en-US" sz="1100" dirty="0"/>
          </a:p>
          <a:p>
            <a:pPr marL="342900" indent="-342900" algn="r" rtl="1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توحيد الهمزات والأشكال</a:t>
            </a:r>
            <a:endParaRPr lang="en-US" sz="1100" dirty="0"/>
          </a:p>
          <a:p>
            <a:pPr marL="342900" indent="-342900" algn="r" rtl="1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تنظيف المسافات والترميز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08960" y="777240"/>
            <a:ext cx="2606040" cy="2468880"/>
          </a:xfrm>
          <a:prstGeom prst="roundRect">
            <a:avLst>
              <a:gd name="adj" fmla="val 4444"/>
            </a:avLst>
          </a:prstGeom>
          <a:solidFill>
            <a:srgbClr val="F8FBFD"/>
          </a:solidFill>
          <a:ln w="12700">
            <a:solidFill>
              <a:srgbClr val="D5E8F3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08960" y="777240"/>
            <a:ext cx="2606040" cy="502920"/>
          </a:xfrm>
          <a:prstGeom prst="roundRect">
            <a:avLst>
              <a:gd name="adj" fmla="val 21818"/>
            </a:avLst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08960" y="1051560"/>
            <a:ext cx="2606040" cy="2286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0" y="77724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الماسح المعجمي (Lexer)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46120" y="1371600"/>
            <a:ext cx="233172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r" rtl="1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كلمات مفتاحية عربية كاملة</a:t>
            </a:r>
            <a:endParaRPr lang="en-US" sz="1100" dirty="0"/>
          </a:p>
          <a:p>
            <a:pPr marL="342900" indent="-342900" algn="r" rtl="1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دعم الأرقام </a:t>
            </a:r>
            <a:r>
              <a:rPr lang="en-US" sz="1100" dirty="0" err="1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الثنائية</a:t>
            </a: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00" dirty="0"/>
          </a:p>
          <a:p>
            <a:pPr marL="342900" indent="-342900" algn="r" rtl="1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الفاصلة المنقوطة العربية ؛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897880" y="777240"/>
            <a:ext cx="2606040" cy="2468880"/>
          </a:xfrm>
          <a:prstGeom prst="roundRect">
            <a:avLst>
              <a:gd name="adj" fmla="val 4444"/>
            </a:avLst>
          </a:prstGeom>
          <a:solidFill>
            <a:srgbClr val="F8FBFD"/>
          </a:solidFill>
          <a:ln w="12700">
            <a:solidFill>
              <a:srgbClr val="D5E8F3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897880" y="777240"/>
            <a:ext cx="2606040" cy="502920"/>
          </a:xfrm>
          <a:prstGeom prst="roundRect">
            <a:avLst>
              <a:gd name="adj" fmla="val 21818"/>
            </a:avLst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897880" y="1051560"/>
            <a:ext cx="2606040" cy="2286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97880" y="77724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المحلل + AST Builder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35040" y="1371600"/>
            <a:ext cx="233172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r" rtl="1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قواعد LL(1) مكتملة</a:t>
            </a:r>
            <a:endParaRPr lang="en-US" sz="1100" dirty="0"/>
          </a:p>
          <a:p>
            <a:pPr marL="342900" indent="-342900" algn="r" rtl="1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تفكيك س++</a:t>
            </a:r>
            <a:endParaRPr lang="en-US" sz="1100" dirty="0"/>
          </a:p>
          <a:p>
            <a:pPr marL="342900" indent="-342900" algn="r" rtl="1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حقن بيانات السطر والعمود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28600" y="3364992"/>
            <a:ext cx="8503920" cy="1481328"/>
          </a:xfrm>
          <a:prstGeom prst="roundRect">
            <a:avLst>
              <a:gd name="adj" fmla="val 6173"/>
            </a:avLst>
          </a:prstGeom>
          <a:solidFill>
            <a:srgbClr val="1E2A38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03720" y="349160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900" i="1" dirty="0">
                <a:solidFill>
                  <a:srgbClr val="6A9E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مثال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02920" y="3657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buNone/>
            </a:pPr>
            <a:r>
              <a:rPr lang="en-US" sz="1400" dirty="0" err="1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متغير</a:t>
            </a: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س : </a:t>
            </a:r>
            <a:r>
              <a:rPr lang="en-US" sz="1400" dirty="0" err="1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صحيح</a:t>
            </a:r>
            <a:r>
              <a:rPr lang="en-US" sz="14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ar-SY" sz="14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0</a:t>
            </a: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؛</a:t>
            </a:r>
            <a:endParaRPr lang="en-US" sz="1400" dirty="0"/>
          </a:p>
          <a:p>
            <a:pPr algn="r" rtl="1"/>
            <a:r>
              <a:rPr lang="en-US" sz="1400" dirty="0" err="1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طالما</a:t>
            </a: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ar-SY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س </a:t>
            </a:r>
            <a:r>
              <a:rPr lang="ar-SY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 10 )</a:t>
            </a: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ar-SY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س++ </a:t>
            </a: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؛{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الواجهة </a:t>
            </a:r>
            <a:r>
              <a:rPr lang="en-US" sz="22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الوسطى</a:t>
            </a: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ar-SY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 </a:t>
            </a:r>
            <a:r>
              <a:rPr lang="en-US" sz="22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التحليل</a:t>
            </a: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الدلالي وتوليد LLVM IR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800600" y="822960"/>
            <a:ext cx="4023360" cy="3200400"/>
          </a:xfrm>
          <a:prstGeom prst="roundRect">
            <a:avLst>
              <a:gd name="adj" fmla="val 3429"/>
            </a:avLst>
          </a:prstGeom>
          <a:solidFill>
            <a:srgbClr val="F8FBFD"/>
          </a:solidFill>
          <a:ln w="12700">
            <a:solidFill>
              <a:srgbClr val="D5E8F3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800600" y="822960"/>
            <a:ext cx="4023360" cy="475488"/>
          </a:xfrm>
          <a:prstGeom prst="roundRect">
            <a:avLst>
              <a:gd name="adj" fmla="val 23077"/>
            </a:avLst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00600" y="1051560"/>
            <a:ext cx="4023360" cy="246888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00600" y="822960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التحليل الدلالي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937760" y="1389888"/>
            <a:ext cx="37490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r" rtl="1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جدول رموز متداخل (Scoped Symbol Table)</a:t>
            </a:r>
            <a:endParaRPr lang="en-US" sz="1100" dirty="0"/>
          </a:p>
          <a:p>
            <a:pPr marL="342900" indent="-342900" algn="r" rtl="1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فحص توافق الأنواع: صحيح / عشري / منطقي / نص</a:t>
            </a:r>
            <a:endParaRPr lang="en-US" sz="1100" dirty="0"/>
          </a:p>
          <a:p>
            <a:pPr marL="342900" indent="-342900" algn="r" rtl="1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تقنية تسميم الرموز لقمع الأخطاء المتتالية</a:t>
            </a:r>
            <a:endParaRPr lang="en-US" sz="1100" dirty="0"/>
          </a:p>
          <a:p>
            <a:pPr marL="342900" indent="-342900" algn="r" rtl="1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سجل مدمج لدوال الأردوينو: وضع_الطرف، انتظر...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822960"/>
            <a:ext cx="4297680" cy="3200400"/>
          </a:xfrm>
          <a:prstGeom prst="roundRect">
            <a:avLst>
              <a:gd name="adj" fmla="val 3429"/>
            </a:avLst>
          </a:prstGeom>
          <a:solidFill>
            <a:srgbClr val="F8FBFD"/>
          </a:solidFill>
          <a:ln w="12700">
            <a:solidFill>
              <a:srgbClr val="D5E8F3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822960"/>
            <a:ext cx="4297680" cy="475488"/>
          </a:xfrm>
          <a:prstGeom prst="roundRect">
            <a:avLst>
              <a:gd name="adj" fmla="val 23077"/>
            </a:avLst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1051560"/>
            <a:ext cx="4297680" cy="24688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822960"/>
            <a:ext cx="4297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توليد LLVM IR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1417320"/>
            <a:ext cx="3931920" cy="1051560"/>
          </a:xfrm>
          <a:prstGeom prst="roundRect">
            <a:avLst>
              <a:gd name="adj" fmla="val 6957"/>
            </a:avLst>
          </a:prstGeom>
          <a:solidFill>
            <a:srgbClr val="1E2A38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1463040"/>
            <a:ext cx="3657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 triple = "avr-atmel-none"</a:t>
            </a:r>
            <a:endParaRPr lang="en-US" sz="1000" dirty="0"/>
          </a:p>
          <a:p>
            <a:pPr marL="0" indent="0" algn="r" rtl="1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 void @c_delay(i32 30)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2560320"/>
            <a:ext cx="4023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r" rtl="1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حماية القسمة على صفر (Divide-by-Zero Guard)</a:t>
            </a:r>
            <a:endParaRPr lang="en-US" sz="1100" dirty="0"/>
          </a:p>
          <a:p>
            <a:pPr marL="342900" indent="-342900" algn="r" rtl="1">
              <a:spcAft>
                <a:spcPts val="800"/>
              </a:spcAft>
              <a:buSzPct val="100000"/>
              <a:buChar char="•"/>
            </a:pPr>
            <a:r>
              <a:rPr lang="en-US" sz="1100" dirty="0" err="1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تحسينات</a:t>
            </a: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</a:t>
            </a:r>
            <a:r>
              <a:rPr lang="en-US" sz="1100" dirty="0" err="1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</a:t>
            </a: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ar-SY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dirty="0" err="1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لتقليص</a:t>
            </a: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حجم الكود للأجهزة المدمجة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4160520"/>
            <a:ext cx="8503920" cy="685800"/>
          </a:xfrm>
          <a:prstGeom prst="roundRect">
            <a:avLst>
              <a:gd name="adj" fmla="val 13333"/>
            </a:avLst>
          </a:prstGeom>
          <a:solidFill>
            <a:srgbClr val="EBF5FB"/>
          </a:solidFill>
          <a:ln w="12700">
            <a:solidFill>
              <a:srgbClr val="D5E8F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187952"/>
            <a:ext cx="8321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 كل مرحلة تُغذّي التالية: الشجرة </a:t>
            </a:r>
            <a:r>
              <a:rPr lang="en-US" sz="1200" b="1" dirty="0" err="1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الدلالية</a:t>
            </a:r>
            <a:r>
              <a:rPr lang="en-US" sz="12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ar-SY" sz="12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r>
              <a:rPr lang="en-US" sz="12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جدول </a:t>
            </a:r>
            <a:r>
              <a:rPr lang="en-US" sz="1200" b="1" dirty="0" err="1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الرموز</a:t>
            </a:r>
            <a:r>
              <a:rPr lang="en-US" sz="12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ar-SY" sz="12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r>
              <a:rPr lang="en-US" sz="12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IR محسّن جاهز للتجميع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الواجهة </a:t>
            </a:r>
            <a:r>
              <a:rPr lang="en-US" sz="22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الخلفية</a:t>
            </a: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ar-SY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</a:t>
            </a:r>
            <a:r>
              <a:rPr lang="en-US" sz="22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</a:t>
            </a: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LLVM IR </a:t>
            </a:r>
            <a:r>
              <a:rPr lang="ar-SY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2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إلى</a:t>
            </a: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العتاد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2633472" cy="3017520"/>
          </a:xfrm>
          <a:prstGeom prst="roundRect">
            <a:avLst>
              <a:gd name="adj" fmla="val 4167"/>
            </a:avLst>
          </a:prstGeom>
          <a:solidFill>
            <a:srgbClr val="F8FBFD"/>
          </a:solidFill>
          <a:ln w="12700">
            <a:solidFill>
              <a:srgbClr val="D5E8F3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777240"/>
            <a:ext cx="2633472" cy="475488"/>
          </a:xfrm>
          <a:prstGeom prst="roundRect">
            <a:avLst>
              <a:gd name="adj" fmla="val 23077"/>
            </a:avLst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33272"/>
            <a:ext cx="2633472" cy="219456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777240"/>
            <a:ext cx="26334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تحسين لـ AVR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344168"/>
            <a:ext cx="2359152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r" rtl="1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تعطيل المتجهات غير المستخدمة</a:t>
            </a:r>
            <a:endParaRPr lang="en-US" sz="1050" dirty="0"/>
          </a:p>
          <a:p>
            <a:pPr marL="342900" indent="-342900" algn="r" rtl="1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Constant Folding</a:t>
            </a:r>
            <a:r>
              <a:rPr lang="ar-SY" sz="10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تلقائي</a:t>
            </a:r>
            <a:endParaRPr lang="en-US" sz="1050" dirty="0"/>
          </a:p>
          <a:p>
            <a:pPr marL="342900" indent="-342900" algn="r" rtl="1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إصلاح ثغرة icmp ult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136392" y="777240"/>
            <a:ext cx="2633472" cy="3017520"/>
          </a:xfrm>
          <a:prstGeom prst="roundRect">
            <a:avLst>
              <a:gd name="adj" fmla="val 4167"/>
            </a:avLst>
          </a:prstGeom>
          <a:solidFill>
            <a:srgbClr val="F8FBFD"/>
          </a:solidFill>
          <a:ln w="12700">
            <a:solidFill>
              <a:srgbClr val="D5E8F3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36392" y="777240"/>
            <a:ext cx="2633472" cy="475488"/>
          </a:xfrm>
          <a:prstGeom prst="roundRect">
            <a:avLst>
              <a:gd name="adj" fmla="val 23077"/>
            </a:avLst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36392" y="1033272"/>
            <a:ext cx="2633472" cy="219456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36392" y="777240"/>
            <a:ext cx="26334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توليد كود الآلة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73552" y="1344168"/>
            <a:ext cx="2359152" cy="1371600"/>
          </a:xfrm>
          <a:prstGeom prst="roundRect">
            <a:avLst>
              <a:gd name="adj" fmla="val 5333"/>
            </a:avLst>
          </a:prstGeom>
          <a:solidFill>
            <a:srgbClr val="1E2A38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19272" y="1399032"/>
            <a:ext cx="226771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lds  r24, </a:t>
            </a:r>
            <a:r>
              <a:rPr lang="ar-SY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 err="1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السطوع</a:t>
            </a:r>
            <a:endParaRPr lang="en-US" sz="950" dirty="0"/>
          </a:p>
          <a:p>
            <a:pPr marL="0" indent="0" algn="r" rtl="1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  r24, r18</a:t>
            </a:r>
            <a:endParaRPr lang="en-US" sz="950" dirty="0"/>
          </a:p>
          <a:p>
            <a:pPr marL="0" indent="0" algn="r" rtl="1">
              <a:buNone/>
            </a:pPr>
            <a:r>
              <a:rPr lang="en-US" sz="950" dirty="0" err="1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sts</a:t>
            </a: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dirty="0" err="1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السطوع</a:t>
            </a:r>
            <a:r>
              <a:rPr lang="ar-SY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r24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273552" y="2770632"/>
            <a:ext cx="23591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000" i="1" dirty="0" err="1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تعليمات</a:t>
            </a:r>
            <a:r>
              <a:rPr lang="ar-SY" sz="1000" i="1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i="1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AVR asm حقيقية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52744" y="777240"/>
            <a:ext cx="2633472" cy="3017520"/>
          </a:xfrm>
          <a:prstGeom prst="roundRect">
            <a:avLst>
              <a:gd name="adj" fmla="val 4167"/>
            </a:avLst>
          </a:prstGeom>
          <a:solidFill>
            <a:srgbClr val="F8FBFD"/>
          </a:solidFill>
          <a:ln w="12700">
            <a:solidFill>
              <a:srgbClr val="D5E8F3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952744" y="777240"/>
            <a:ext cx="2633472" cy="475488"/>
          </a:xfrm>
          <a:prstGeom prst="roundRect">
            <a:avLst>
              <a:gd name="adj" fmla="val 23077"/>
            </a:avLst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52744" y="1033272"/>
            <a:ext cx="2633472" cy="219456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52744" y="777240"/>
            <a:ext cx="26334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الربط والرفع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089904" y="1344168"/>
            <a:ext cx="2359152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r" rtl="1">
              <a:spcAft>
                <a:spcPts val="800"/>
              </a:spcAft>
              <a:buSzPct val="100000"/>
              <a:buChar char="•"/>
            </a:pPr>
            <a:r>
              <a:rPr lang="en-US" sz="1050" dirty="0" err="1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output.o</a:t>
            </a:r>
            <a:r>
              <a:rPr lang="en-US" sz="10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r>
              <a:rPr lang="en-US" sz="1050" dirty="0" err="1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core.a</a:t>
            </a:r>
            <a:r>
              <a:rPr lang="en-US" sz="10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</a:p>
          <a:p>
            <a:pPr marL="342900" indent="-342900" algn="r" rtl="1">
              <a:spcAft>
                <a:spcPts val="800"/>
              </a:spcAft>
              <a:buSzPct val="100000"/>
              <a:buChar char="•"/>
            </a:pPr>
            <a:endParaRPr lang="en-US" sz="1050" dirty="0">
              <a:solidFill>
                <a:srgbClr val="1C2833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algn="r" rtl="1">
              <a:spcAft>
                <a:spcPts val="800"/>
              </a:spcAft>
              <a:buSzPct val="100000"/>
            </a:pPr>
            <a:r>
              <a:rPr lang="en-US" sz="10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    </a:t>
            </a:r>
            <a:r>
              <a:rPr lang="ar-SY" sz="10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dirty="0" err="1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firmware.hex</a:t>
            </a:r>
            <a:endParaRPr lang="en-US" sz="1050" dirty="0"/>
          </a:p>
          <a:p>
            <a:pPr marL="342900" indent="-342900" algn="r" rtl="1">
              <a:spcAft>
                <a:spcPts val="800"/>
              </a:spcAft>
              <a:buSzPct val="100000"/>
              <a:buChar char="•"/>
            </a:pPr>
            <a:r>
              <a:rPr lang="en-US" sz="1050" dirty="0" err="1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رفع</a:t>
            </a:r>
            <a:r>
              <a:rPr lang="en-US" sz="10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dirty="0" err="1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مباشر</a:t>
            </a:r>
            <a:r>
              <a:rPr lang="en-US" sz="10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dirty="0" err="1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عبر</a:t>
            </a:r>
            <a:r>
              <a:rPr lang="en-US" sz="10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dirty="0" err="1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avrdude</a:t>
            </a:r>
            <a:endParaRPr lang="en-US" sz="1050" dirty="0"/>
          </a:p>
          <a:p>
            <a:pPr marL="342900" indent="-342900" algn="r" rtl="1">
              <a:spcAft>
                <a:spcPts val="800"/>
              </a:spcAft>
              <a:buSzPct val="100000"/>
              <a:buChar char="•"/>
            </a:pPr>
            <a:r>
              <a:rPr lang="en-US" sz="1050" dirty="0" err="1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تتبع</a:t>
            </a:r>
            <a:r>
              <a:rPr lang="en-US" sz="10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حجم الذاكرة Flash / RAM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0040" y="3913632"/>
            <a:ext cx="8503920" cy="868680"/>
          </a:xfrm>
          <a:prstGeom prst="roundRect">
            <a:avLst>
              <a:gd name="adj" fmla="val 10526"/>
            </a:avLst>
          </a:prstGeom>
          <a:solidFill>
            <a:srgbClr val="EBF5FB"/>
          </a:solidFill>
          <a:ln w="12700">
            <a:solidFill>
              <a:srgbClr val="D5E8F3"/>
            </a:solidFill>
            <a:prstDash val="solid"/>
          </a:ln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18978" y="3959352"/>
            <a:ext cx="16599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444752" y="4183380"/>
            <a:ext cx="109728" cy="0"/>
          </a:xfrm>
          <a:prstGeom prst="line">
            <a:avLst/>
          </a:prstGeom>
          <a:noFill/>
          <a:ln w="12700">
            <a:solidFill>
              <a:srgbClr val="5D6D7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4738" y="3959352"/>
            <a:ext cx="54688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554480" y="397764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Optimizer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633472" y="4183380"/>
            <a:ext cx="109728" cy="0"/>
          </a:xfrm>
          <a:prstGeom prst="line">
            <a:avLst/>
          </a:prstGeom>
          <a:noFill/>
          <a:ln w="12700">
            <a:solidFill>
              <a:srgbClr val="5D6D7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19178" y="3959352"/>
            <a:ext cx="50116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743200" y="397764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output.o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822192" y="4183380"/>
            <a:ext cx="109728" cy="0"/>
          </a:xfrm>
          <a:prstGeom prst="line">
            <a:avLst/>
          </a:prstGeom>
          <a:noFill/>
          <a:ln w="12700">
            <a:solidFill>
              <a:srgbClr val="5D6D7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30758" y="3959352"/>
            <a:ext cx="47830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931920" y="397764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Linker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010912" y="4183380"/>
            <a:ext cx="109728" cy="0"/>
          </a:xfrm>
          <a:prstGeom prst="line">
            <a:avLst/>
          </a:prstGeom>
          <a:noFill/>
          <a:ln w="12700">
            <a:solidFill>
              <a:srgbClr val="5D6D7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96618" y="3959352"/>
            <a:ext cx="50116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120640" y="397764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firmware.hex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199632" y="4183380"/>
            <a:ext cx="109728" cy="0"/>
          </a:xfrm>
          <a:prstGeom prst="line">
            <a:avLst/>
          </a:prstGeom>
          <a:noFill/>
          <a:ln w="12700">
            <a:solidFill>
              <a:srgbClr val="5D6D7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52744" y="3959352"/>
            <a:ext cx="3337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309360" y="397764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AB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avrdude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7388352" y="4183380"/>
            <a:ext cx="109728" cy="0"/>
          </a:xfrm>
          <a:prstGeom prst="line">
            <a:avLst/>
          </a:prstGeom>
          <a:noFill/>
          <a:ln w="12700">
            <a:solidFill>
              <a:srgbClr val="5D6D7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040880" y="3959352"/>
            <a:ext cx="4343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498080" y="397764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AB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Arduino ✓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8389620" y="3959352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57200" y="437083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950" i="1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خط تجميع وربط وضغط كامل</a:t>
            </a:r>
            <a:endParaRPr lang="en-US" sz="950" dirty="0"/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0DBC1660-BF97-90FF-641B-B030F2CEFA58}"/>
              </a:ext>
            </a:extLst>
          </p:cNvPr>
          <p:cNvCxnSpPr/>
          <p:nvPr/>
        </p:nvCxnSpPr>
        <p:spPr>
          <a:xfrm>
            <a:off x="7388352" y="2116800"/>
            <a:ext cx="0" cy="288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المشروع على الهواء — مثال حي وروابط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5029200" cy="4005072"/>
          </a:xfrm>
          <a:prstGeom prst="roundRect">
            <a:avLst>
              <a:gd name="adj" fmla="val 2740"/>
            </a:avLst>
          </a:prstGeom>
          <a:solidFill>
            <a:srgbClr val="1E2A38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04672"/>
            <a:ext cx="5029200" cy="384048"/>
          </a:xfrm>
          <a:prstGeom prst="roundRect">
            <a:avLst>
              <a:gd name="adj" fmla="val 28571"/>
            </a:avLst>
          </a:prstGeom>
          <a:solidFill>
            <a:srgbClr val="152030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69264"/>
            <a:ext cx="5029200" cy="219456"/>
          </a:xfrm>
          <a:prstGeom prst="rect">
            <a:avLst/>
          </a:prstGeom>
          <a:solidFill>
            <a:srgbClr val="152030"/>
          </a:solidFill>
          <a:ln w="12700">
            <a:solidFill>
              <a:srgbClr val="152030"/>
            </a:solidFill>
            <a:prstDash val="solid"/>
          </a:ln>
        </p:spPr>
        <p:txBody>
          <a:bodyPr/>
          <a:lstStyle/>
          <a:p>
            <a:pPr algn="r" rtl="1"/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57200" y="804672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A9E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وميض_الليد.ع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261872"/>
            <a:ext cx="466344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buNone/>
            </a:pPr>
            <a:r>
              <a:rPr lang="en-US" sz="1200" dirty="0" err="1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دالة</a:t>
            </a: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 err="1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اعداد</a:t>
            </a:r>
            <a:r>
              <a:rPr lang="ar-SY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 </a:t>
            </a:r>
            <a:r>
              <a:rPr lang="en-US" sz="1200" dirty="0" err="1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فارغ</a:t>
            </a: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1200" dirty="0"/>
          </a:p>
          <a:p>
            <a:pPr marL="0" indent="0" algn="r" rtl="1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00" dirty="0" err="1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وضع_الطرف</a:t>
            </a:r>
            <a:r>
              <a:rPr lang="ar-SY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١٣، </a:t>
            </a:r>
            <a:r>
              <a:rPr lang="en-US" sz="1200" dirty="0" err="1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مخرج</a:t>
            </a:r>
            <a:r>
              <a:rPr lang="ar-SY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؛</a:t>
            </a:r>
            <a:endParaRPr lang="en-US" sz="1200" dirty="0"/>
          </a:p>
          <a:p>
            <a:pPr marL="0" indent="0" algn="r" rtl="1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marL="0" indent="0" algn="r" rtl="1">
              <a:buNone/>
            </a:pPr>
            <a:r>
              <a:rPr lang="en-US" sz="1200" dirty="0" err="1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دالة</a:t>
            </a: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 err="1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تكرار</a:t>
            </a:r>
            <a:r>
              <a:rPr lang="ar-SY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 </a:t>
            </a:r>
            <a:r>
              <a:rPr lang="en-US" sz="1200" dirty="0" err="1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فارغ</a:t>
            </a: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1200" dirty="0"/>
          </a:p>
          <a:p>
            <a:pPr marL="0" indent="0" algn="r" rtl="1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00" dirty="0" err="1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اكتب_رقمي</a:t>
            </a: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)١٣، </a:t>
            </a:r>
            <a:r>
              <a:rPr lang="en-US" sz="1200" dirty="0" err="1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عالي</a:t>
            </a: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 ؛</a:t>
            </a:r>
            <a:endParaRPr lang="en-US" sz="1200" dirty="0"/>
          </a:p>
          <a:p>
            <a:pPr marL="0" indent="0" algn="r" rtl="1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00" dirty="0" err="1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انتظر</a:t>
            </a: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)١٠٠٠( ؛</a:t>
            </a:r>
            <a:endParaRPr lang="en-US" sz="1200" dirty="0"/>
          </a:p>
          <a:p>
            <a:pPr marL="0" indent="0" algn="r" rtl="1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00" dirty="0" err="1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اكتب_رقمي</a:t>
            </a: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)١٣، </a:t>
            </a:r>
            <a:r>
              <a:rPr lang="en-US" sz="1200" dirty="0" err="1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منخفض</a:t>
            </a: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 ؛</a:t>
            </a:r>
            <a:endParaRPr lang="en-US" sz="1200" dirty="0"/>
          </a:p>
          <a:p>
            <a:pPr marL="0" indent="0" algn="r" rtl="1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00" dirty="0" err="1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انتظر</a:t>
            </a: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)١٠٠٠( ؛</a:t>
            </a:r>
            <a:endParaRPr lang="en-US" sz="1200" dirty="0"/>
          </a:p>
          <a:p>
            <a:pPr marL="0" indent="0" algn="r" rtl="1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cs typeface="Courier New" pitchFamily="34" charset="-120"/>
              </a:rPr>
              <a:t>{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577840" y="804672"/>
            <a:ext cx="3246120" cy="1463040"/>
          </a:xfrm>
          <a:prstGeom prst="roundRect">
            <a:avLst>
              <a:gd name="adj" fmla="val 7500"/>
            </a:avLst>
          </a:prstGeom>
          <a:solidFill>
            <a:srgbClr val="F8FBFD"/>
          </a:solidFill>
          <a:ln w="12700">
            <a:solidFill>
              <a:srgbClr val="D5E8F3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669280" y="868680"/>
            <a:ext cx="3063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 المترجم على GitHub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669280" y="1170432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E86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github.com/abdnash-clean/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2E86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ArduinoArabicCompiler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669280" y="1664208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النجوم والمساهمات مرحب بها!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577840" y="2450592"/>
            <a:ext cx="3246120" cy="1463040"/>
          </a:xfrm>
          <a:prstGeom prst="roundRect">
            <a:avLst>
              <a:gd name="adj" fmla="val 7500"/>
            </a:avLst>
          </a:prstGeom>
          <a:solidFill>
            <a:srgbClr val="F8FBFD"/>
          </a:solidFill>
          <a:ln w="12700">
            <a:solidFill>
              <a:srgbClr val="D5E8F3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669280" y="2514600"/>
            <a:ext cx="3063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🖥️  الـ IDE على GitHub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669280" y="2816352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E86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github.com/saeed-33/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 err="1">
                <a:solidFill>
                  <a:srgbClr val="2E86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arabic_arduino_ide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669280" y="3310128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بيئة تطوير عربية متكاملة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577840" y="4041648"/>
            <a:ext cx="3246120" cy="731520"/>
          </a:xfrm>
          <a:prstGeom prst="roundRect">
            <a:avLst>
              <a:gd name="adj" fmla="val 15000"/>
            </a:avLst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23560" y="4069080"/>
            <a:ext cx="31546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مفتوح المصدر ✦ عربي بالكامل ✦ يعمل على AVR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509</Words>
  <Application>Microsoft Office PowerPoint</Application>
  <PresentationFormat>On-screen Show (16:9)</PresentationFormat>
  <Paragraphs>119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مترجم الأردوينو العربي</dc:title>
  <dc:subject>PptxGenJS Presentation</dc:subject>
  <dc:creator>PptxGenJS</dc:creator>
  <cp:lastModifiedBy>thaer orabi</cp:lastModifiedBy>
  <cp:revision>3</cp:revision>
  <dcterms:created xsi:type="dcterms:W3CDTF">2026-06-25T10:44:31Z</dcterms:created>
  <dcterms:modified xsi:type="dcterms:W3CDTF">2026-06-25T11:22:11Z</dcterms:modified>
</cp:coreProperties>
</file>